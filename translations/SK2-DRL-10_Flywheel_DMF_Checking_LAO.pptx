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7" r:id="rId1"/>
  </p:sldMasterIdLst>
  <p:notesMasterIdLst>
    <p:notesMasterId r:id="rId19"/>
  </p:notesMasterIdLst>
  <p:handoutMasterIdLst>
    <p:handoutMasterId r:id="rId20"/>
  </p:handoutMasterIdLst>
  <p:sldIdLst>
    <p:sldId id="1764" r:id="rId2"/>
    <p:sldId id="2076" r:id="rId3"/>
    <p:sldId id="616" r:id="rId4"/>
    <p:sldId id="783" r:id="rId5"/>
    <p:sldId id="784" r:id="rId6"/>
    <p:sldId id="1679" r:id="rId7"/>
    <p:sldId id="1651" r:id="rId8"/>
    <p:sldId id="2075" r:id="rId9"/>
    <p:sldId id="2081" r:id="rId10"/>
    <p:sldId id="2082" r:id="rId11"/>
    <p:sldId id="2083" r:id="rId12"/>
    <p:sldId id="2084" r:id="rId13"/>
    <p:sldId id="2077" r:id="rId14"/>
    <p:sldId id="2078" r:id="rId15"/>
    <p:sldId id="2079" r:id="rId16"/>
    <p:sldId id="2080" r:id="rId17"/>
    <p:sldId id="1779" r:id="rId18"/>
  </p:sldIdLst>
  <p:sldSz cx="9144000" cy="6858000" type="screen4x3"/>
  <p:notesSz cx="6797675" cy="9925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FF3300"/>
    <a:srgbClr val="E41C21"/>
    <a:srgbClr val="FFFF00"/>
    <a:srgbClr val="006600"/>
    <a:srgbClr val="282828"/>
    <a:srgbClr val="CC0000"/>
    <a:srgbClr val="54C4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249" autoAdjust="0"/>
  </p:normalViewPr>
  <p:slideViewPr>
    <p:cSldViewPr>
      <p:cViewPr varScale="1">
        <p:scale>
          <a:sx n="68" d="100"/>
          <a:sy n="68" d="100"/>
        </p:scale>
        <p:origin x="126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A19CA4-28B4-4014-9EDB-1C8EFB4C9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F1E41-F6CE-43A1-8B67-EF0C816DD7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5F180379-C695-4904-9BAA-BD5D319A5809}" type="datetimeFigureOut">
              <a:rPr lang="en-US"/>
              <a:pPr>
                <a:defRPr/>
              </a:pPr>
              <a:t>4/28/2021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C2D61-EBDC-4789-A412-4330ED16B8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A447C-1223-4117-8D49-74F9558E5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28F460F-6BD1-4EAF-A2D5-554FBF1D58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AD7163F5-7620-440C-8C82-F41837F8F6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26" tIns="48713" rIns="97426" bIns="48713" numCol="1" anchor="t" anchorCtr="0" compatLnSpc="1">
            <a:prstTxWarp prst="textNoShape">
              <a:avLst/>
            </a:prstTxWarp>
          </a:bodyPr>
          <a:lstStyle>
            <a:lvl1pPr defTabSz="974356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D7B3665-B5FE-44F4-9913-54332E90021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26" tIns="48713" rIns="97426" bIns="48713" numCol="1" anchor="t" anchorCtr="0" compatLnSpc="1">
            <a:prstTxWarp prst="textNoShape">
              <a:avLst/>
            </a:prstTxWarp>
          </a:bodyPr>
          <a:lstStyle>
            <a:lvl1pPr algn="r" defTabSz="974356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56C5DCB9-0DB1-4D1C-9D06-2023DCC8E88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2950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3" name="Rectangle 5">
            <a:extLst>
              <a:ext uri="{FF2B5EF4-FFF2-40B4-BE49-F238E27FC236}">
                <a16:creationId xmlns:a16="http://schemas.microsoft.com/office/drawing/2014/main" id="{68DFAAD0-3A1C-408C-AE81-9E85B42A4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26" tIns="48713" rIns="97426" bIns="48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5414" name="Rectangle 6">
            <a:extLst>
              <a:ext uri="{FF2B5EF4-FFF2-40B4-BE49-F238E27FC236}">
                <a16:creationId xmlns:a16="http://schemas.microsoft.com/office/drawing/2014/main" id="{A0DF1348-89DA-4081-9F74-A5FA326ADE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26" tIns="48713" rIns="97426" bIns="48713" numCol="1" anchor="b" anchorCtr="0" compatLnSpc="1">
            <a:prstTxWarp prst="textNoShape">
              <a:avLst/>
            </a:prstTxWarp>
          </a:bodyPr>
          <a:lstStyle>
            <a:lvl1pPr defTabSz="974356" eaLnBrk="1" hangingPunct="1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415" name="Rectangle 7">
            <a:extLst>
              <a:ext uri="{FF2B5EF4-FFF2-40B4-BE49-F238E27FC236}">
                <a16:creationId xmlns:a16="http://schemas.microsoft.com/office/drawing/2014/main" id="{407FFA9F-4CFD-4C60-8927-8B032163F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6575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26" tIns="48713" rIns="97426" bIns="48713" numCol="1" anchor="b" anchorCtr="0" compatLnSpc="1">
            <a:prstTxWarp prst="textNoShape">
              <a:avLst/>
            </a:prstTxWarp>
          </a:bodyPr>
          <a:lstStyle>
            <a:lvl1pPr algn="r" defTabSz="973138" eaLnBrk="1" hangingPunct="1">
              <a:defRPr sz="1300"/>
            </a:lvl1pPr>
          </a:lstStyle>
          <a:p>
            <a:pPr>
              <a:defRPr/>
            </a:pPr>
            <a:fld id="{7915458C-CFEB-4EA9-8DCF-80036B1A65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Illaya</a:t>
            </a:r>
            <a:r>
              <a:rPr lang="en-US" dirty="0"/>
              <a:t> server – cutch system TTT .ppt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83E64A-8A01-4C66-BF50-DB6B1364F17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2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</a:t>
            </a:r>
            <a:r>
              <a:rPr lang="en-US" dirty="0" err="1"/>
              <a:t>DMF..function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A218D-F311-4799-90C5-974E162849B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37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1. Using a chalk do marking on primary and secondary flywheel as shown in the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illustration “A”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2. Turn the secondary flywheel manually to any one direction using hand till spring force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acts against the rotation as shown in the i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llustration “B” and hold in that position.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3. Now count the number of teeth (Teeth on starter ring gear) between the two markings.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This gives DMF free play on that side.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4. Similarly find the DMF free play on the other side also.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5. Rotary motion should be equal on both the sides.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6. A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“ticking“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rPr>
              <a:t>noise audible due to sticky grease if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15458C-CFEB-4EA9-8DCF-80036B1A650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788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ridge4.png">
            <a:extLst>
              <a:ext uri="{FF2B5EF4-FFF2-40B4-BE49-F238E27FC236}">
                <a16:creationId xmlns:a16="http://schemas.microsoft.com/office/drawing/2014/main" id="{C2BEA8B0-5E26-45D2-81D1-2B72F3E53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396875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0">
            <a:extLst>
              <a:ext uri="{FF2B5EF4-FFF2-40B4-BE49-F238E27FC236}">
                <a16:creationId xmlns:a16="http://schemas.microsoft.com/office/drawing/2014/main" id="{2FFECFEB-7690-45E1-80B3-61732B384CAA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81013" y="6629400"/>
            <a:ext cx="2903537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800">
                <a:solidFill>
                  <a:schemeClr val="tx2"/>
                </a:solidFill>
                <a:cs typeface="Arial" panose="020B0604020202020204" pitchFamily="34" charset="0"/>
              </a:rPr>
              <a:t>Copyright © 2012 Mahindra &amp; Mahindra Ltd. All rights reserved.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3A43E3-5506-4DC2-8AAC-D486F969395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8821738" y="6613525"/>
            <a:ext cx="157162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E9A58EA0-AB94-4BB0-A951-2588E211CEC6}" type="slidenum">
              <a:rPr lang="en-US" sz="1000" smtClean="0">
                <a:solidFill>
                  <a:schemeClr val="tx2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sz="100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2" descr="C:\Users\213398\AppData\Local\Temp\wz4bb9\Mahindra_Rise_white.gif">
            <a:extLst>
              <a:ext uri="{FF2B5EF4-FFF2-40B4-BE49-F238E27FC236}">
                <a16:creationId xmlns:a16="http://schemas.microsoft.com/office/drawing/2014/main" id="{A4CE8C68-297A-471C-A53A-45DC327570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36575"/>
            <a:ext cx="313690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46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ridge4.png">
            <a:extLst>
              <a:ext uri="{FF2B5EF4-FFF2-40B4-BE49-F238E27FC236}">
                <a16:creationId xmlns:a16="http://schemas.microsoft.com/office/drawing/2014/main" id="{176D6049-37F6-4A9F-A0AB-17E7C13FC2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396875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PC MILE LOGO">
            <a:extLst>
              <a:ext uri="{FF2B5EF4-FFF2-40B4-BE49-F238E27FC236}">
                <a16:creationId xmlns:a16="http://schemas.microsoft.com/office/drawing/2014/main" id="{22608350-DCFA-4584-9BDC-89B9C0895A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" y="6419131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92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C MILE LOGO">
            <a:extLst>
              <a:ext uri="{FF2B5EF4-FFF2-40B4-BE49-F238E27FC236}">
                <a16:creationId xmlns:a16="http://schemas.microsoft.com/office/drawing/2014/main" id="{BD71304C-D052-445E-849A-C7B885CD88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" y="6411912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68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C MILE LOGO">
            <a:extLst>
              <a:ext uri="{FF2B5EF4-FFF2-40B4-BE49-F238E27FC236}">
                <a16:creationId xmlns:a16="http://schemas.microsoft.com/office/drawing/2014/main" id="{60AC195B-8726-4A16-89E4-CC4F1269E5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90255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81012" y="719138"/>
            <a:ext cx="8224837" cy="492443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81012" y="1971675"/>
            <a:ext cx="8224838" cy="1384995"/>
          </a:xfrm>
        </p:spPr>
        <p:txBody>
          <a:bodyPr/>
          <a:lstStyle>
            <a:lvl1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435100" indent="-2857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714500" indent="-2730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18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Arial" pitchFamily="34" charset="0"/>
                <a:cs typeface="Arial" pitchFamily="34" charset="0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1"/>
          <p:cNvSpPr>
            <a:spLocks noGrp="1"/>
          </p:cNvSpPr>
          <p:nvPr>
            <p:ph type="body" sz="quarter" idx="13"/>
          </p:nvPr>
        </p:nvSpPr>
        <p:spPr bwMode="gray">
          <a:xfrm>
            <a:off x="481012" y="1270452"/>
            <a:ext cx="8224838" cy="283711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142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PC MILE LOGO">
            <a:extLst>
              <a:ext uri="{FF2B5EF4-FFF2-40B4-BE49-F238E27FC236}">
                <a16:creationId xmlns:a16="http://schemas.microsoft.com/office/drawing/2014/main" id="{BE271BAF-8944-4529-9E41-E9341B0D3D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8" y="6409506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 bwMode="gray">
          <a:xfrm>
            <a:off x="481012" y="727075"/>
            <a:ext cx="8226425" cy="492443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81012" y="1971675"/>
            <a:ext cx="8224838" cy="184665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4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435100" indent="-2857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714500" indent="-2730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18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Arial" pitchFamily="34" charset="0"/>
                <a:cs typeface="Arial" pitchFamily="34" charset="0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32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C MILE LOGO">
            <a:extLst>
              <a:ext uri="{FF2B5EF4-FFF2-40B4-BE49-F238E27FC236}">
                <a16:creationId xmlns:a16="http://schemas.microsoft.com/office/drawing/2014/main" id="{40C1A7AE-477C-4FA5-B00E-BC43EB82D0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91057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 bwMode="gray">
          <a:xfrm>
            <a:off x="481013" y="1971675"/>
            <a:ext cx="4078287" cy="41624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9"/>
          </p:nvPr>
        </p:nvSpPr>
        <p:spPr bwMode="gray">
          <a:xfrm>
            <a:off x="4838700" y="1971675"/>
            <a:ext cx="3846512" cy="1384995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gray">
          <a:xfrm>
            <a:off x="481012" y="727075"/>
            <a:ext cx="8226425" cy="492443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41"/>
          <p:cNvSpPr>
            <a:spLocks noGrp="1"/>
          </p:cNvSpPr>
          <p:nvPr>
            <p:ph type="body" sz="quarter" idx="13"/>
          </p:nvPr>
        </p:nvSpPr>
        <p:spPr bwMode="gray">
          <a:xfrm>
            <a:off x="481012" y="1270452"/>
            <a:ext cx="8224838" cy="283711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657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A1497A-465C-4D95-BB1F-E9C0CC868410}"/>
              </a:ext>
            </a:extLst>
          </p:cNvPr>
          <p:cNvSpPr/>
          <p:nvPr userDrawn="1"/>
        </p:nvSpPr>
        <p:spPr bwMode="gray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3" name="Picture 6" descr="Mahindra Logo.png">
            <a:extLst>
              <a:ext uri="{FF2B5EF4-FFF2-40B4-BE49-F238E27FC236}">
                <a16:creationId xmlns:a16="http://schemas.microsoft.com/office/drawing/2014/main" id="{428E7AA7-565B-4E21-B509-414DFDC722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55738" y="2716213"/>
            <a:ext cx="641985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479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90BE09F-BDB5-4E96-B3ED-A97F611BCE00}" type="datetimeFigureOut">
              <a:rPr lang="en-US" smtClean="0"/>
              <a:pPr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A033FE0-9AF0-4A73-81DF-1DEA0A6BC5B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C MILE LOGO"/>
          <p:cNvPicPr/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6412832"/>
            <a:ext cx="786062" cy="4451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018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534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Ridge.pdf">
            <a:extLst>
              <a:ext uri="{FF2B5EF4-FFF2-40B4-BE49-F238E27FC236}">
                <a16:creationId xmlns:a16="http://schemas.microsoft.com/office/drawing/2014/main" id="{F6043271-9999-4BBA-9D2A-4C8A722DA1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22701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CAB5BEA5-9B74-48DB-BDAA-F2E37D30822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8313" y="711200"/>
            <a:ext cx="8212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6776C-21F4-4A80-918D-83F2DE909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13" y="1971675"/>
            <a:ext cx="8212137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First level</a:t>
            </a:r>
          </a:p>
          <a:p>
            <a:pPr lvl="3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95E9468-9D78-4EC6-A962-632794B5A507}"/>
              </a:ext>
            </a:extLst>
          </p:cNvPr>
          <p:cNvSpPr txBox="1">
            <a:spLocks/>
          </p:cNvSpPr>
          <p:nvPr/>
        </p:nvSpPr>
        <p:spPr bwMode="auto">
          <a:xfrm>
            <a:off x="8821738" y="6613525"/>
            <a:ext cx="157162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A480E33A-6FF2-4897-89EE-6F5DDE96B6F2}" type="slidenum">
              <a:rPr lang="en-US" sz="1000" smtClean="0">
                <a:solidFill>
                  <a:schemeClr val="tx2"/>
                </a:solidFill>
                <a:cs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en-US" sz="100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6" name="Picture 5" descr="PC MILE LOGO">
            <a:extLst>
              <a:ext uri="{FF2B5EF4-FFF2-40B4-BE49-F238E27FC236}">
                <a16:creationId xmlns:a16="http://schemas.microsoft.com/office/drawing/2014/main" id="{CA3751DF-FE7D-494F-B324-07F504302E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" y="6410308"/>
            <a:ext cx="78581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735" r:id="rId1"/>
    <p:sldLayoutId id="2147485736" r:id="rId2"/>
    <p:sldLayoutId id="2147485737" r:id="rId3"/>
    <p:sldLayoutId id="2147485738" r:id="rId4"/>
    <p:sldLayoutId id="2147485739" r:id="rId5"/>
    <p:sldLayoutId id="2147485740" r:id="rId6"/>
    <p:sldLayoutId id="2147485741" r:id="rId7"/>
    <p:sldLayoutId id="2147485742" r:id="rId8"/>
    <p:sldLayoutId id="2147485743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3200" b="1" kern="1200" dirty="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90513" indent="-290513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SzPct val="120000"/>
        <a:buFont typeface="Wingdings" panose="05000000000000000000" pitchFamily="2" charset="2"/>
        <a:buChar char="§"/>
        <a:defRPr lang="en-US" sz="3200" kern="120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285750" indent="-285750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lang="en-US" sz="2800" kern="1200" dirty="0">
          <a:solidFill>
            <a:schemeClr val="tx1"/>
          </a:solidFill>
          <a:latin typeface="+mn-lt"/>
          <a:ea typeface="+mn-ea"/>
          <a:cs typeface="Arial" charset="0"/>
        </a:defRPr>
      </a:lvl2pPr>
      <a:lvl3pPr marL="571500" indent="-279400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SzPct val="90000"/>
        <a:buFont typeface="Arial" panose="020B0604020202020204" pitchFamily="34" charset="0"/>
        <a:buChar char="–"/>
        <a:defRPr lang="en-US" sz="2400" kern="1200" dirty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850900" indent="-279400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SzPct val="80000"/>
        <a:buFont typeface="Wingdings" panose="05000000000000000000" pitchFamily="2" charset="2"/>
        <a:buChar char="§"/>
        <a:defRPr lang="en-US" sz="2000" kern="1200" dirty="0">
          <a:solidFill>
            <a:schemeClr val="tx1"/>
          </a:solidFill>
          <a:latin typeface="Arial" pitchFamily="34" charset="0"/>
          <a:ea typeface="+mn-ea"/>
          <a:cs typeface="Arial" charset="0"/>
        </a:defRPr>
      </a:lvl4pPr>
      <a:lvl5pPr marL="1136650" indent="-285750" algn="l" defTabSz="933450" rtl="0" eaLnBrk="1" fontAlgn="base" hangingPunct="1">
        <a:spcBef>
          <a:spcPct val="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–"/>
        <a:defRPr lang="en-US" sz="2000" kern="1200" dirty="0">
          <a:solidFill>
            <a:schemeClr val="tx1"/>
          </a:solidFill>
          <a:latin typeface="Arial" pitchFamily="34" charset="0"/>
          <a:ea typeface="+mn-ea"/>
          <a:cs typeface="Arial" charset="0"/>
        </a:defRPr>
      </a:lvl5pPr>
      <a:lvl6pPr marL="1371600" indent="-241300" algn="l" defTabSz="914400" rtl="0" eaLnBrk="1" latinLnBrk="0" hangingPunct="1">
        <a:spcBef>
          <a:spcPct val="20000"/>
        </a:spcBef>
        <a:buClr>
          <a:schemeClr val="bg2"/>
        </a:buClr>
        <a:buSzPct val="60000"/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microsoft.com/office/2007/relationships/hdphoto" Target="../media/hdphoto1.wdp"/><Relationship Id="rId6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microsoft.com/office/2007/relationships/hdphoto" Target="../media/hdphoto3.wdp"/><Relationship Id="rId6" Type="http://schemas.openxmlformats.org/officeDocument/2006/relationships/image" Target="../media/image17.png"/><Relationship Id="rId7" Type="http://schemas.microsoft.com/office/2007/relationships/hdphoto" Target="../media/hdphoto4.wdp"/><Relationship Id="rId8" Type="http://schemas.openxmlformats.org/officeDocument/2006/relationships/image" Target="../media/image18.png"/><Relationship Id="rId9" Type="http://schemas.microsoft.com/office/2007/relationships/hdphoto" Target="../media/hdphoto5.wdp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1.wmv"/><Relationship Id="rId2" Type="http://schemas.openxmlformats.org/officeDocument/2006/relationships/video" Target="../media/media1.wmv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3" Type="http://schemas.microsoft.com/office/2007/relationships/hdphoto" Target="../media/hdphoto6.wdp"/><Relationship Id="rId4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5F5A758-067F-4213-986E-226F6C83F3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0834" y="2764561"/>
            <a:ext cx="2947786" cy="286702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D6907-349D-41BE-A684-3007607E59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415092"/>
            <a:ext cx="5867400" cy="752956"/>
          </a:xfrm>
        </p:spPr>
        <p:txBody>
          <a:bodyPr/>
          <a:lstStyle/>
          <a:p>
            <a:pPr marL="0" indent="0" algn="ctr">
              <a:buNone/>
            </a:pPr>
            <a:endParaRPr lang="en-US" sz="9600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US" sz="9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1E8692-3640-43B6-8FD4-7B4EA33B9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45494"/>
            <a:ext cx="9144000" cy="378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3E001-7992-4C33-926D-0E7F917B3DB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97" b="92529" l="1975" r="96756">
                        <a14:foregroundMark x1="3526" y1="19540" x2="14245" y2="17816"/>
                        <a14:foregroundMark x1="14245" y1="17816" x2="15515" y2="17816"/>
                        <a14:foregroundMark x1="1975" y1="31609" x2="1975" y2="31609"/>
                        <a14:foregroundMark x1="2116" y1="36782" x2="4090" y2="48851"/>
                        <a14:foregroundMark x1="12694" y1="59195" x2="12694" y2="59195"/>
                        <a14:foregroundMark x1="11848" y1="58046" x2="11848" y2="58046"/>
                        <a14:foregroundMark x1="10719" y1="56322" x2="10719" y2="56322"/>
                        <a14:foregroundMark x1="16643" y1="69540" x2="16643" y2="69540"/>
                        <a14:foregroundMark x1="16361" y1="75862" x2="16361" y2="75862"/>
                        <a14:foregroundMark x1="14951" y1="83908" x2="14951" y2="83908"/>
                        <a14:foregroundMark x1="9873" y1="91954" x2="9873" y2="91954"/>
                        <a14:foregroundMark x1="16784" y1="16667" x2="31594" y2="20690"/>
                        <a14:foregroundMark x1="30748" y1="45977" x2="31030" y2="45977"/>
                        <a14:foregroundMark x1="31594" y1="64368" x2="31594" y2="64368"/>
                        <a14:foregroundMark x1="33992" y1="78736" x2="33992" y2="78736"/>
                        <a14:foregroundMark x1="33709" y1="78736" x2="33709" y2="78736"/>
                        <a14:foregroundMark x1="38646" y1="91954" x2="38646" y2="91954"/>
                        <a14:foregroundMark x1="45134" y1="90805" x2="45134" y2="90805"/>
                        <a14:foregroundMark x1="50635" y1="71264" x2="50635" y2="71264"/>
                        <a14:foregroundMark x1="47250" y1="35632" x2="47250" y2="35632"/>
                        <a14:foregroundMark x1="42736" y1="24713" x2="42736" y2="24713"/>
                        <a14:foregroundMark x1="55289" y1="7471" x2="55289" y2="7471"/>
                        <a14:foregroundMark x1="68970" y1="35632" x2="68970" y2="35632"/>
                        <a14:foregroundMark x1="65726" y1="61494" x2="65726" y2="61494"/>
                        <a14:foregroundMark x1="58674" y1="25862" x2="58674" y2="25862"/>
                        <a14:foregroundMark x1="57687" y1="87931" x2="57687" y2="87931"/>
                        <a14:foregroundMark x1="62200" y1="87931" x2="62200" y2="87931"/>
                        <a14:foregroundMark x1="65585" y1="93103" x2="65585" y2="93103"/>
                        <a14:foregroundMark x1="69111" y1="92529" x2="69111" y2="92529"/>
                        <a14:foregroundMark x1="71509" y1="91954" x2="71509" y2="91954"/>
                        <a14:foregroundMark x1="73202" y1="83908" x2="73202" y2="83908"/>
                        <a14:foregroundMark x1="73202" y1="92529" x2="73202" y2="92529"/>
                        <a14:foregroundMark x1="76305" y1="74713" x2="76305" y2="74713"/>
                        <a14:foregroundMark x1="78702" y1="60920" x2="78702" y2="60920"/>
                        <a14:foregroundMark x1="84908" y1="71839" x2="84908" y2="71839"/>
                        <a14:foregroundMark x1="90550" y1="40230" x2="90550" y2="40230"/>
                        <a14:foregroundMark x1="96756" y1="20690" x2="96756" y2="20690"/>
                        <a14:foregroundMark x1="89845" y1="53448" x2="89422" y2="50575"/>
                        <a14:foregroundMark x1="41749" y1="7471" x2="41749" y2="7471"/>
                        <a14:foregroundMark x1="24965" y1="7471" x2="24965" y2="7471"/>
                        <a14:foregroundMark x1="84626" y1="91954" x2="84626" y2="91954"/>
                        <a14:foregroundMark x1="87870" y1="78161" x2="87870" y2="781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7428" y="4539530"/>
            <a:ext cx="4506562" cy="11059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FD3BFC-6CC8-4C7D-BFF6-87309FC8141D}"/>
              </a:ext>
            </a:extLst>
          </p:cNvPr>
          <p:cNvSpPr/>
          <p:nvPr/>
        </p:nvSpPr>
        <p:spPr>
          <a:xfrm>
            <a:off x="0" y="3622730"/>
            <a:ext cx="5973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Impact" panose="020B0806030902050204" pitchFamily="34" charset="0"/>
                <a:cs typeface="Leelawadee UI"/>
              </a:rPr>
              <a:t>ທັກສະການວັດແທກ</a:t>
            </a:r>
          </a:p>
        </p:txBody>
      </p:sp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A49341AD-D547-4D7D-AFC9-CBBA4C4063DB}"/>
              </a:ext>
            </a:extLst>
          </p:cNvPr>
          <p:cNvSpPr/>
          <p:nvPr/>
        </p:nvSpPr>
        <p:spPr>
          <a:xfrm>
            <a:off x="4497521" y="1470342"/>
            <a:ext cx="2845468" cy="2093284"/>
          </a:xfrm>
          <a:prstGeom prst="wedgeEllipseCallout">
            <a:avLst>
              <a:gd name="adj1" fmla="val 57818"/>
              <a:gd name="adj2" fmla="val 41479"/>
            </a:avLst>
          </a:prstGeom>
          <a:noFill/>
          <a:ln w="28575">
            <a:solidFill>
              <a:srgbClr val="1D03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AAF53B-0A84-4DA6-AA02-01DAF63D84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2815" y="1600200"/>
            <a:ext cx="1781175" cy="18192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C345E2-CFE7-427A-922C-0228C1F149FA}"/>
              </a:ext>
            </a:extLst>
          </p:cNvPr>
          <p:cNvSpPr/>
          <p:nvPr/>
        </p:nvSpPr>
        <p:spPr>
          <a:xfrm>
            <a:off x="3476565" y="197560"/>
            <a:ext cx="2041911" cy="52322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400" i="1" u="sng" dirty="0">
                <a:solidFill>
                  <a:srgbClr val="0070C0"/>
                </a:solidFill>
                <a:highlight>
                  <a:srgbClr val="FFFF00"/>
                </a:highlight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SK2-DRL-10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41819-143D-4297-BA9A-4741518CD0B5}"/>
              </a:ext>
            </a:extLst>
          </p:cNvPr>
          <p:cNvSpPr/>
          <p:nvPr/>
        </p:nvSpPr>
        <p:spPr>
          <a:xfrm>
            <a:off x="941556" y="725267"/>
            <a:ext cx="7467600" cy="455269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800" u="sng" dirty="0">
                <a:solidFill>
                  <a:schemeClr val="bg1"/>
                </a:solidFill>
                <a:highlight>
                  <a:srgbClr val="0000FF"/>
                </a:highlight>
                <a:latin typeface="Arial Rounded MT Bold" panose="020F0704030504030204" pitchFamily="34" charset="0"/>
                <a:ea typeface="+mj-ea"/>
                <a:cs typeface="Leelawadee UI" pitchFamily="34" charset="0"/>
              </a:rPr>
              <a:t>ຂັ້ນຕອນການກວດຟລາຍວີລ ແລະ DMF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926C8-ED69-4E61-84D3-6D52C0C68A68}"/>
              </a:ext>
            </a:extLst>
          </p:cNvPr>
          <p:cNvSpPr txBox="1"/>
          <p:nvPr/>
        </p:nvSpPr>
        <p:spPr>
          <a:xfrm>
            <a:off x="5063931" y="6427113"/>
            <a:ext cx="38344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sz="2400" b="1" u="sng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ລະດັບ – 2 (ໄລຍະ -1)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E69FB-C854-4C38-99B6-66F1019A1819}"/>
              </a:ext>
            </a:extLst>
          </p:cNvPr>
          <p:cNvSpPr txBox="1"/>
          <p:nvPr/>
        </p:nvSpPr>
        <p:spPr>
          <a:xfrm>
            <a:off x="912248" y="6696417"/>
            <a:ext cx="4158304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sz="1050" dirty="0">
                <a:latin typeface="Arial Rounded MT Bold" panose="020F0704030504030204" pitchFamily="34" charset="0"/>
              </a:rPr>
              <a:t>Mile-Storm-L2-Phase1- Rev 1.0</a:t>
            </a:r>
          </a:p>
        </p:txBody>
      </p:sp>
    </p:spTree>
    <p:extLst>
      <p:ext uri="{BB962C8B-B14F-4D97-AF65-F5344CB8AC3E}">
        <p14:creationId xmlns:p14="http://schemas.microsoft.com/office/powerpoint/2010/main" val="264528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38AE10-DD0F-4B70-AB87-C483E65BF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3" t="1923" r="974" b="3847"/>
          <a:stretch/>
        </p:blipFill>
        <p:spPr>
          <a:xfrm>
            <a:off x="0" y="1828800"/>
            <a:ext cx="9144000" cy="37970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DF8582-8DDA-48D2-8AFD-DBEA0B8264BB}"/>
              </a:ext>
            </a:extLst>
          </p:cNvPr>
          <p:cNvSpPr/>
          <p:nvPr/>
        </p:nvSpPr>
        <p:spPr>
          <a:xfrm>
            <a:off x="4754218" y="-23191"/>
            <a:ext cx="441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rgbClr val="EA162A"/>
                </a:solidFill>
                <a:latin typeface="Arial Rounded MT Bold" panose="020F0704030504030204" pitchFamily="34" charset="0"/>
                <a:cs typeface="Leelawadee UI"/>
              </a:rPr>
              <a:t>ຊິ້ນສ່ວນລະບົບສົ່ງກຳລັງ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46D682-68D3-4660-B66A-B643C9D50E41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185958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3D846-9099-4802-82D7-01EC202F47B1}"/>
              </a:ext>
            </a:extLst>
          </p:cNvPr>
          <p:cNvSpPr txBox="1"/>
          <p:nvPr/>
        </p:nvSpPr>
        <p:spPr>
          <a:xfrm>
            <a:off x="5353664" y="0"/>
            <a:ext cx="37903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r">
              <a:spcBef>
                <a:spcPct val="0"/>
              </a:spcBef>
              <a:buFontTx/>
              <a:buNone/>
              <a:defRPr sz="2400" b="1">
                <a:solidFill>
                  <a:srgbClr val="EA162A"/>
                </a:solidFill>
                <a:latin typeface="Arial Rounded MT Bold" panose="020F07040305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9pPr>
          </a:lstStyle>
          <a:p>
            <a:r>
              <a:rPr lang="en-US" sz="2800" dirty="0">
                <a:cs typeface="Leelawadee UI"/>
              </a:rPr>
              <a:t>ຟລາຍວີລ (FLYWHEEL)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78CC3-AA51-4828-B70D-94DA92862BF0}"/>
              </a:ext>
            </a:extLst>
          </p:cNvPr>
          <p:cNvSpPr txBox="1"/>
          <p:nvPr/>
        </p:nvSpPr>
        <p:spPr>
          <a:xfrm>
            <a:off x="0" y="1017639"/>
            <a:ext cx="91440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ຟລາຍວີລ ແມ່ນອຸປະກອນກົນຈັກທີ່ໝຸນ ໃຊ້ສຳລັບເກັບພະລັງງານການໝຸນ</a:t>
            </a:r>
          </a:p>
          <a:p>
            <a:pPr marL="171450" indent="-171450" fontAlgn="base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ມັນເຮັດໜ້າທີ່ເປັນບ່ອນເກັບພະລັງງານ ໃນຈັງຫວະລະເບີດ (ຈັງຫວະກຳລັງ) ເມື່ອພະລັງງານທີ່ສະໜອງມີຫຼາຍກວ່າຄວາມຕ້ອງການ,</a:t>
            </a:r>
          </a:p>
          <a:p>
            <a:pPr fontAlgn="base">
              <a:buClr>
                <a:schemeClr val="tx2"/>
              </a:buClr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   ແລະ ປ່ອຍພະລັງງານອອກໃນຈັງຫວະທີ່ບໍ່ມີກຳລັງ ໂດຍສົ່ງແຮງບິດໄປໃຫ້ພາລະທາງກົນຈັກ</a:t>
            </a:r>
          </a:p>
          <a:p>
            <a:pPr fontAlgn="base">
              <a:buClr>
                <a:schemeClr val="tx2"/>
              </a:buClr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/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B6885-C90F-4560-9939-2D4D58D1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645" y="2598833"/>
            <a:ext cx="3549443" cy="41040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58E233-3CC3-4605-9693-3279D1AF8BDA}"/>
              </a:ext>
            </a:extLst>
          </p:cNvPr>
          <p:cNvSpPr/>
          <p:nvPr/>
        </p:nvSpPr>
        <p:spPr>
          <a:xfrm>
            <a:off x="0" y="3653056"/>
            <a:ext cx="46014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1. ໂບລຍຶດຟລາຍວີລ</a:t>
            </a:r>
          </a:p>
          <a:p>
            <a:r>
              <a:rPr lang="en-US" sz="2000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2. ແຫວນຮອງໂບລຍຶດຟລາຍວີລ</a:t>
            </a:r>
          </a:p>
          <a:p>
            <a:r>
              <a:rPr lang="en-US" sz="2000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3. ຊຸດຟລາຍວີລ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9DCD3-08A1-4462-9531-FB01B56C9C3C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12833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F11211-2D9F-48FE-9222-27AED3F1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7" y="4351047"/>
            <a:ext cx="3548550" cy="19969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13D846-9099-4802-82D7-01EC202F47B1}"/>
              </a:ext>
            </a:extLst>
          </p:cNvPr>
          <p:cNvSpPr txBox="1"/>
          <p:nvPr/>
        </p:nvSpPr>
        <p:spPr>
          <a:xfrm>
            <a:off x="4191000" y="0"/>
            <a:ext cx="495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 b="0">
                <a:solidFill>
                  <a:srgbClr val="FF000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9pPr>
          </a:lstStyle>
          <a:p>
            <a:r>
              <a:rPr lang="en-US" sz="2400" dirty="0">
                <a:cs typeface="Leelawadee UI"/>
              </a:rPr>
              <a:t>ກວດຄວາມແກວ່ງຟລາຍວີລ (Runout)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78CC3-AA51-4828-B70D-94DA92862BF0}"/>
              </a:ext>
            </a:extLst>
          </p:cNvPr>
          <p:cNvSpPr txBox="1"/>
          <p:nvPr/>
        </p:nvSpPr>
        <p:spPr>
          <a:xfrm>
            <a:off x="0" y="929151"/>
            <a:ext cx="91440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ຕ້ອງກວດຄວາມແກວ່ງຂອງຟລາຍວີລ ທຸກຄັ້ງທີ່ສົງໄສວ່າບໍ່ຢູ່ໃນແນວສູນ. ຄວາມແກວ່ງຂອງຟລາຍວີລ ຕ້ອງບໍ່ເກີນ 0.10 mm.</a:t>
            </a:r>
            <a:r>
              <a:rPr lang="en-US" b="1" dirty="0">
                <a:latin typeface="Arial Rounded MT Bold" panose="020F0704030504030204" pitchFamily="34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ວິທີວັດຄວາມແກວ່ງ: ຕິດຖານແມ່ເຫຼັກຂອງໄດອັລເກດ (Dial gauge) ໃສ່ເສື້ອສູບ, ແລ້ວວາງເຂັມໄດອັລເກດໃສ່ໜ້າດ້ານນອກຂອງຟລາຍວີລ ແລະ ໝຸນຟລາຍວີລ.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ສາເຫດທົ່ວໄປທີ່ເຮັດໃຫ້ຄວາມແກວ່ງເກີນກຳນົດ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 ບິດງໍຍ້ອນຄວາມຮ້ອນ.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 ການກຶງ/ຂັດບໍ່ຖືກຕ້ອງ.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 ຂັນໂບລບໍ່ຖືກຕ້ອງ.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 ມີສິ່ງແປກປອມຢູ່ໜ້າແປນເພົາຂໍ້ເຫວີ່ຍງ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      ຫຼື ຟລາຍວີລ.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ນັ່ງບໍ່ແນບສະໜິດກັບເພົາຂໍ້ເຫວີ່ຍງ.</a:t>
            </a:r>
          </a:p>
        </p:txBody>
      </p:sp>
      <p:pic>
        <p:nvPicPr>
          <p:cNvPr id="5" name="Picture 5" descr="MILE 026">
            <a:extLst>
              <a:ext uri="{FF2B5EF4-FFF2-40B4-BE49-F238E27FC236}">
                <a16:creationId xmlns:a16="http://schemas.microsoft.com/office/drawing/2014/main" id="{8B2A11F1-3C02-4050-B47B-20E0BF742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8" t="1430" r="14737" b="1761"/>
          <a:stretch/>
        </p:blipFill>
        <p:spPr bwMode="auto">
          <a:xfrm>
            <a:off x="3990108" y="2905201"/>
            <a:ext cx="5022273" cy="35413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DF9349-07BD-4B02-90BC-C05E584A005C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182312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3D846-9099-4802-82D7-01EC202F47B1}"/>
              </a:ext>
            </a:extLst>
          </p:cNvPr>
          <p:cNvSpPr txBox="1"/>
          <p:nvPr/>
        </p:nvSpPr>
        <p:spPr>
          <a:xfrm>
            <a:off x="4724400" y="0"/>
            <a:ext cx="44196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2800" b="0">
                <a:solidFill>
                  <a:srgbClr val="FF000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</a:defRPr>
            </a:lvl9pPr>
          </a:lstStyle>
          <a:p>
            <a:r>
              <a:rPr lang="en-US" dirty="0">
                <a:cs typeface="Leelawadee UI"/>
              </a:rPr>
              <a:t>ການກວດກາຟລາຍວີລ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002D4-8E18-46CC-8A78-06796DB6276E}"/>
              </a:ext>
            </a:extLst>
          </p:cNvPr>
          <p:cNvSpPr/>
          <p:nvPr/>
        </p:nvSpPr>
        <p:spPr>
          <a:xfrm>
            <a:off x="-76200" y="1203333"/>
            <a:ext cx="9144000" cy="4649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ໜ້າຕິດຕັ້ງຕ້ອງບໍ່ມີຂີ້ຝຸ່ນ ແລະ ນ້ຳມັນຈາລະບີ (ອາດເຮັດໃຫ້ນັ່ງອຽງ ແລະ ແກວ່ງ)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ຕ້ອງປ່ຽນໂບລຟລາຍວີລໃໝ່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 ຂັນແຮງບິດຕາມລຳດັບ ແລະ ຂັນຕໍ່ເປັນອົງສາ (Angular torque) ຕາມຄ່າກຳນົດ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 Rounded MT Bold" panose="020F0704030504030204" pitchFamily="34" charset="0"/>
                <a:cs typeface="Leelawadee UI"/>
              </a:rPr>
              <a:t>ຖ້າບໍ່ປະຕິບັດຕາມຂໍ້ກຳນົດເຫຼົ່ານີ້ ອາດເຮັດໃຫ້ໂບລຫຼົມ ແລະ ຟລາຍວີລແກວ່ງ.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49149-0ABB-40CC-9601-509E8A5C8BA8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292561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7306" y="36132"/>
            <a:ext cx="4131964" cy="43088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800" dirty="0">
                <a:solidFill>
                  <a:srgbClr val="FF0000"/>
                </a:solidFill>
                <a:latin typeface="Arial Rounded MT Bold" panose="020F0704030504030204" pitchFamily="34" charset="0"/>
                <a:ea typeface="+mn-ea"/>
                <a:cs typeface="Leelawadee UI"/>
              </a:rPr>
              <a:t>ຟລາຍວີລມວນຄູ່ (DMF)</a:t>
            </a:r>
            <a:endParaRPr lang="en-IN" sz="2800" dirty="0">
              <a:solidFill>
                <a:srgbClr val="FF0000"/>
              </a:solidFill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305518" y="467019"/>
            <a:ext cx="4875540" cy="3323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DMF ປະກອບດ້ວຍ 2 ມວນ, ເຊື່ອມຕໍ່ກັນດ້ວຍສະປິງ ຜ່ານລູກປືນ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ມວນທີໜຶ່ງ ຟລາຍວີລຕົວທີໜຶ່ງ (Primary) ຍຶດດ້ວຍໂບລໃສ່ເພົາຂໍ້ເຫວີ່ຍງຂອງເຄື່ອງຈັກ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ຟລາຍວີລຕົວທີສອງ (Secondary) ມີຊຸດຝາຄັດຊ໌ຍຶດໂບລຢູ່ເທິງ ພ້ອມກັບແຜ່ນຄັດຊ໌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0395" y="821663"/>
            <a:ext cx="8224838" cy="369332"/>
          </a:xfrm>
        </p:spPr>
        <p:txBody>
          <a:bodyPr/>
          <a:lstStyle/>
          <a:p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  <a:cs typeface="Leelawadee UI"/>
              </a:rPr>
              <a:t>ລາຍລະອຽດ DMF</a:t>
            </a:r>
            <a:endParaRPr lang="en-IN" sz="24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3139" t="-1" r="4495" b="-1906"/>
          <a:stretch/>
        </p:blipFill>
        <p:spPr>
          <a:xfrm>
            <a:off x="0" y="1463934"/>
            <a:ext cx="1442329" cy="15181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0104" y="1421743"/>
            <a:ext cx="1617578" cy="1553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clrChange>
              <a:clrFrom>
                <a:srgbClr val="F0DAB9"/>
              </a:clrFrom>
              <a:clrTo>
                <a:srgbClr val="F0DAB9">
                  <a:alpha val="0"/>
                </a:srgbClr>
              </a:clrTo>
            </a:clrChange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2010" y="1438981"/>
            <a:ext cx="1506212" cy="1551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38600" y="3902013"/>
            <a:ext cx="5105400" cy="2485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buClr>
                <a:schemeClr val="bg2"/>
              </a:buClr>
              <a:buSzPct val="120000"/>
            </a:pP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  <a:cs typeface="Leelawadee UI" panose="020B0604020202020204" pitchFamily="34" charset="0"/>
              </a:rPr>
              <a:t>ການແຍກແຍະ</a:t>
            </a:r>
          </a:p>
          <a:p>
            <a:pPr marL="217885" indent="-217885">
              <a:lnSpc>
                <a:spcPct val="150000"/>
              </a:lnSpc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  <a:cs typeface="Leelawadee UI" panose="020B0604020202020204" pitchFamily="34" charset="0"/>
              </a:rPr>
              <a:t>DMF ຂອງເຄື່ອງດີເຊວ ແລະ ແອັດຊັງ ເບິ່ງພາຍນອກຄືກັນ ແຕ່ໃຊ້ຄຸນລັກສະນະການຊັບແຮງບິດ/ແດມເປີ ຕ່າງກັນ</a:t>
            </a:r>
          </a:p>
          <a:p>
            <a:pPr marL="217885" indent="-217885">
              <a:lnSpc>
                <a:spcPct val="150000"/>
              </a:lnSpc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  <a:cs typeface="Leelawadee UI" panose="020B0604020202020204" pitchFamily="34" charset="0"/>
              </a:rPr>
              <a:t>ເລກພາດ (Part no.) ແຕກຕ່າງກັນ ເຊິ່ງພິມໄວ້ຢູ່ຂ້າງ DMF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75899" y="4068521"/>
            <a:ext cx="3765915" cy="1583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4600" y="3043566"/>
            <a:ext cx="1134926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sz="1050" b="1" dirty="0">
                <a:cs typeface="Leelawadee UI" panose="020B0604020202020204" pitchFamily="34" charset="0"/>
              </a:rPr>
              <a:t>DMF - ຝັ່ງຄັດຊ໌</a:t>
            </a:r>
            <a:endParaRPr lang="en-IN" sz="1050" b="1" dirty="0"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6163" y="3113940"/>
            <a:ext cx="1163780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buClr>
                <a:schemeClr val="tx2"/>
              </a:buClr>
            </a:pPr>
            <a:r>
              <a:rPr lang="en-US" sz="1050" b="1" dirty="0">
                <a:cs typeface="Leelawadee UI" panose="020B0604020202020204" pitchFamily="34" charset="0"/>
              </a:rPr>
              <a:t>DMF - ຝັ່ງເຄື່ອງຈັກ</a:t>
            </a:r>
            <a:endParaRPr lang="en-IN" sz="1050" b="1" dirty="0">
              <a:cs typeface="Arial" panose="020B0604020202020204" pitchFamily="34" charset="0"/>
            </a:endParaRP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3814880"/>
            <a:ext cx="8932957" cy="0"/>
          </a:xfrm>
          <a:prstGeom prst="line">
            <a:avLst/>
          </a:prstGeom>
          <a:ln w="57150">
            <a:solidFill>
              <a:srgbClr val="FF9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0336" y="4024211"/>
            <a:ext cx="3837041" cy="1909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38424" y="5696479"/>
            <a:ext cx="3837041" cy="2283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buClr>
                <a:schemeClr val="tx2"/>
              </a:buClr>
            </a:pPr>
            <a:r>
              <a:rPr lang="en-US" sz="788" dirty="0">
                <a:solidFill>
                  <a:schemeClr val="bg1"/>
                </a:solidFill>
                <a:latin typeface="Arial" panose="020B0604020202020204" pitchFamily="34" charset="0"/>
                <a:cs typeface="Leelawadee UI" panose="020B0604020202020204" pitchFamily="34" charset="0"/>
              </a:rPr>
              <a:t>ເລກພາດທີ່ພິມໄວ້</a:t>
            </a:r>
            <a:endParaRPr lang="en-IN" sz="78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BC0AB-EC20-47C7-8852-6B7BE15D6F2E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353392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1a. DMF Video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9789" y="2267324"/>
            <a:ext cx="7220904" cy="4401490"/>
          </a:xfrm>
          <a:ln>
            <a:solidFill>
              <a:srgbClr val="C00000"/>
            </a:solidFill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669320" y="33250"/>
            <a:ext cx="544142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FF0000"/>
                </a:solidFill>
                <a:latin typeface="Arial Rounded MT Bold" panose="020F0704030504030204" pitchFamily="34" charset="0"/>
              </a:defRPr>
            </a:lvl1pPr>
            <a:lvl2pPr marL="742950" indent="-285750">
              <a:defRPr sz="2000" b="1">
                <a:solidFill>
                  <a:srgbClr val="FF0000"/>
                </a:solidFill>
              </a:defRPr>
            </a:lvl2pPr>
            <a:lvl3pPr marL="1143000" indent="-228600">
              <a:defRPr sz="2000" b="1">
                <a:solidFill>
                  <a:srgbClr val="FF0000"/>
                </a:solidFill>
              </a:defRPr>
            </a:lvl3pPr>
            <a:lvl4pPr marL="1600200" indent="-228600">
              <a:defRPr sz="2000" b="1">
                <a:solidFill>
                  <a:srgbClr val="FF0000"/>
                </a:solidFill>
              </a:defRPr>
            </a:lvl4pPr>
            <a:lvl5pPr marL="2057400" indent="-228600">
              <a:defRPr sz="2000" b="1">
                <a:solidFill>
                  <a:srgbClr val="FF0000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0000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0000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0000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0000"/>
                </a:solidFill>
              </a:defRPr>
            </a:lvl9pPr>
          </a:lstStyle>
          <a:p>
            <a:r>
              <a:rPr lang="en-US" dirty="0">
                <a:cs typeface="Leelawadee UI"/>
              </a:rPr>
              <a:t>ຟລາຍວີລມວນຄູ່ (DMF)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9682" y="734789"/>
            <a:ext cx="8741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2000" dirty="0">
                <a:solidFill>
                  <a:srgbClr val="002060"/>
                </a:solidFill>
                <a:latin typeface="Arial Rounded MT Bold" panose="020F0704030504030204" pitchFamily="34" charset="0"/>
                <a:cs typeface="Leelawadee UI"/>
              </a:rPr>
              <a:t>ຊັບການສັ່ນສະເທືອນແບບບິດຂອງເຄື່ອງຈັກ</a:t>
            </a:r>
          </a:p>
          <a:p>
            <a:pPr marL="285750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Arial Rounded MT Bold" panose="020F0704030504030204" pitchFamily="34" charset="0"/>
                <a:cs typeface="Leelawadee UI"/>
              </a:rPr>
              <a:t>ຊ່ວຍກັນການສັ່ນສະເທືອນ ໃນຕອນເດີນເບົາ</a:t>
            </a:r>
          </a:p>
          <a:p>
            <a:pPr marL="285750" indent="-28575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Arial Rounded MT Bold" panose="020F0704030504030204" pitchFamily="34" charset="0"/>
                <a:cs typeface="Leelawadee UI"/>
              </a:rPr>
              <a:t>ຊ່ວຍໃຫ້ສຽງງຽບ ແລະ ຂັບຂີ່/ນັ່ງສະບາຍ ໃນລະດັບສູງ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17098F-AA07-43F6-8BCA-E64B84697E4E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13131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0EA8F0-B7DD-4233-9909-745799454700}"/>
              </a:ext>
            </a:extLst>
          </p:cNvPr>
          <p:cNvSpPr/>
          <p:nvPr/>
        </p:nvSpPr>
        <p:spPr>
          <a:xfrm>
            <a:off x="3521007" y="0"/>
            <a:ext cx="56097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ການກວດແກ້ບັນຫາ ຟລາຍວີລມວນຄູ່ (DMF)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20B28-9A5E-4216-8209-C4EE93F8E6AB}"/>
              </a:ext>
            </a:extLst>
          </p:cNvPr>
          <p:cNvSpPr/>
          <p:nvPr/>
        </p:nvSpPr>
        <p:spPr>
          <a:xfrm>
            <a:off x="0" y="1005364"/>
            <a:ext cx="9296400" cy="211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1. ເຄື່ອງຈັກດັບເລື້ອຍໆ.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2. ຂັບຂີ່ດ້ວຍຮອບເຄື່ອງຕ່ຳຫຼາຍເກີນໄປ.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3. ລະບົບສີດນ້ຳມັນເຮັດວຽກບໍ່ສະໝ່ຳສະເໝີ ຫຼື ແຮງອັດແຕ່ລະສູບບໍ່ເທົ່າກັນ.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4. ສັ່ນສະເທືອນຫຼາຍ ຍ້ອນຊິ້ນສ່ວນລະບົບສົ່ງກຳລັງສຶກຫຼໍ່.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5. ຄັດຊ໌ລື່ນ ເຮັດໃຫ້ຮ້ອນເກີນ.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FDE74-19A8-4EA4-9945-A021DCDFF1AC}"/>
              </a:ext>
            </a:extLst>
          </p:cNvPr>
          <p:cNvSpPr/>
          <p:nvPr/>
        </p:nvSpPr>
        <p:spPr>
          <a:xfrm>
            <a:off x="16313" y="3200345"/>
            <a:ext cx="3233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ຂັ້ນຕອນການກວດກາ DMF: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284055-B7FA-407D-A6DA-C151309C953D}"/>
              </a:ext>
            </a:extLst>
          </p:cNvPr>
          <p:cNvSpPr/>
          <p:nvPr/>
        </p:nvSpPr>
        <p:spPr>
          <a:xfrm>
            <a:off x="324678" y="636032"/>
            <a:ext cx="3684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ສາເຫດທີ່ອາດເຮັດໃຫ້ DMF ເສຍ: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B6E00-95B6-440A-84CE-F210B8A4E3D1}"/>
              </a:ext>
            </a:extLst>
          </p:cNvPr>
          <p:cNvSpPr/>
          <p:nvPr/>
        </p:nvSpPr>
        <p:spPr>
          <a:xfrm>
            <a:off x="-17784" y="3581400"/>
            <a:ext cx="91274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ທຳຄວາມສະອາດ DMF ໃຫ້ບໍ່ມີນ້ຳມັນ ແລະ ຈາລະບີ ໂດຍໃຊ້ຜ້າເຊັດເທົ່ານັ້ນ. ຫ້າມໃຊ້ເຄື່ອງສີດນ້ຳແຮງດັນສູງ, ອາຍນ້ຳ, ສະເປຣທຳຄວາມສະອາດ ຫຼື ລົມອັດ. ເພາະຈະເຮັດໃຫ້ນ້ຳຢາທຳຄວາມສະອາດເຂົ້າໄປໃນ DMF ແລະ ສຶກຫຼໍ່ໄວຂຶ້ນ.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 ດ້ວຍເຫດຜົນທາງເຕັກນິກ, ຫ້າມຂັດ/ກຶງໜ້າສຳຜັດຄັດຊ໌ຂອງຟລາຍວີລຕົວທີສອງ! ຕ້ອງປ່ຽນໂບລຍຶດກັບເພົາຂໍ້ເຫວີ່ຍງໃໝ່ທຸກຄັ້ງ. ກະລຸນາຂັນໂບລຕາມຄ່າແຮງບິດທີ່ກຳນົດ.</a:t>
            </a:r>
          </a:p>
          <a:p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ເມື່ອປ່ຽນຄັດຊ໌ເປັນຄັ້ງທີສອງ ຕ້ອງປ່ຽນ DMF ພ້ອມກັນທຸກຄັ້ງ. ແດມເປີບິດໃນ DMF ກໍແມ່ນຊິ້ນສ່ວນທີ່ສຶກຫຼໍ່ໄດ້.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F85AB-4EAC-4C03-B39A-296A796960AE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78861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5C037-DE5E-4FEC-BF37-6E5806B99379}"/>
              </a:ext>
            </a:extLst>
          </p:cNvPr>
          <p:cNvSpPr/>
          <p:nvPr/>
        </p:nvSpPr>
        <p:spPr>
          <a:xfrm>
            <a:off x="5787247" y="-49429"/>
            <a:ext cx="3356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ການກວດແກ້ບັນຫາ DMF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054A4-E3D9-41FA-B7C1-157728DB282B}"/>
              </a:ext>
            </a:extLst>
          </p:cNvPr>
          <p:cNvSpPr/>
          <p:nvPr/>
        </p:nvSpPr>
        <p:spPr>
          <a:xfrm>
            <a:off x="-23584" y="866047"/>
            <a:ext cx="9319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ຟລາຍວີລຕົວທີສອງ ສາມາດໝຸນໄດ້ດ້ວຍແຮງປານກາງ ໃນຊ່ວງສູນ (ຕ້ອງມີໄລຍະຫຼິ້ນຕອນເດີນເບົາ). ໃຫ້ໃຊ້ມືໝຸນຟລາຍວີລຕົວທີສອງ ຈົນຮູ້ສຶກວ່າມີແຮງຕ້ານ. ຖ້າອອກແຮງຫຼາຍຂຶ້ນ ຈະໝຸນໄປໄດ້ຕື່ມອີກ ແຕ່ຈະຖືກຈຳກັດດ້ວຍສະປິງ. ແຮງໝຸນຕ້ອງເທົ່າກັນທັງສອງຂ້າງ.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C86AC3-3095-4189-B95B-2F0D301C9A14}"/>
              </a:ext>
            </a:extLst>
          </p:cNvPr>
          <p:cNvSpPr/>
          <p:nvPr/>
        </p:nvSpPr>
        <p:spPr>
          <a:xfrm>
            <a:off x="838200" y="461665"/>
            <a:ext cx="3130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ການໝຸນຫຼິ້ນຂອງຟລາຍວີລຕົວທີສອງ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6D73A-00CA-4E5D-AE1E-548CEE0E68BD}"/>
              </a:ext>
            </a:extLst>
          </p:cNvPr>
          <p:cNvSpPr/>
          <p:nvPr/>
        </p:nvSpPr>
        <p:spPr>
          <a:xfrm>
            <a:off x="-23584" y="2175531"/>
            <a:ext cx="845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Arial Rounded MT Bold" panose="020F0704030504030204" pitchFamily="34" charset="0"/>
                <a:cs typeface="Leelawadee UI"/>
              </a:rPr>
              <a:t>ໃຫ້ໃຊ້ຊໍຂີດໝາຍໄວ້ທີ່ຟລາຍວີລຕົວທີໜຶ່ງ ແລະ ຕົວທີສອງ ຕາມຮູບ: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7CEC23-8F93-4B5D-88D5-11901F38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" y="2612818"/>
            <a:ext cx="4253948" cy="3052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0BA6A-E4FF-4A4E-BCAA-EF9E6D6F2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979" y="2590800"/>
            <a:ext cx="4486769" cy="30744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656CB3E-0313-4445-BF94-A9B60746FE6B}"/>
              </a:ext>
            </a:extLst>
          </p:cNvPr>
          <p:cNvSpPr/>
          <p:nvPr/>
        </p:nvSpPr>
        <p:spPr>
          <a:xfrm>
            <a:off x="838200" y="5665212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ຕ້ອງປ່ຽນ DMF ໃໝ່ ໃນກໍລະນີດັ່ງນີ້:</a:t>
            </a:r>
          </a:p>
          <a:p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• ຖ້າ DMF ໝຸນໄປບໍ່ໄດ້ທັງສອງຂ້າງ / ມີຈຸດຕິດຄ້າງ ຫຼື ໝຸນບໍ່ສະໝ່ຳສະເໝີ ຢູ່ຂ້າງໃດຂ້າງໜຶ່ງ / ໄດ້ຍິນສຽງຂູດ.</a:t>
            </a:r>
          </a:p>
          <a:p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• ມີໄລຍະຫຼິ້ນເກີນ 5 ແຂ້ວເຟືອງ (ປະມານ 12 ອົງສາ) ໃນທິດໝຸນຂ້າງໃດຂ້າງໜຶ່ງ.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EB7601-0A0F-444C-B1C9-F9B987A1FAAE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360067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9C90FC-0C04-41BE-B57E-F0903EE5E7CC}"/>
              </a:ext>
            </a:extLst>
          </p:cNvPr>
          <p:cNvSpPr/>
          <p:nvPr/>
        </p:nvSpPr>
        <p:spPr>
          <a:xfrm>
            <a:off x="762000" y="609600"/>
            <a:ext cx="2591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ໄລຍະຫຼິ້ນຕາມແກນ/ການອຽງ ຂອງ DMF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BE80C-9945-4C34-BACC-9B8BE5B6149D}"/>
              </a:ext>
            </a:extLst>
          </p:cNvPr>
          <p:cNvSpPr/>
          <p:nvPr/>
        </p:nvSpPr>
        <p:spPr>
          <a:xfrm>
            <a:off x="5787247" y="-49429"/>
            <a:ext cx="3356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ການກວດແກ້ບັນຫາ DMF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5A06C-B2F5-4AC0-94D7-71E4C1220481}"/>
              </a:ext>
            </a:extLst>
          </p:cNvPr>
          <p:cNvSpPr/>
          <p:nvPr/>
        </p:nvSpPr>
        <p:spPr>
          <a:xfrm>
            <a:off x="0" y="11430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1. ຖອດ DMF ອອກ ວາງໃສ່ໜ້າພຽງ ແລະ ຈັບຟລາຍວີລຕົວທີໜຶ່ງໃຫ້ແໜ້ນ.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2. ວາງເວີເນຍ (Vernier) ໃສ່ມວນຕົວທີສອງ ຕາມຮູບ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4BBDFC-100F-4025-8568-E3C073233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6269" y="1592161"/>
            <a:ext cx="2723301" cy="21730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ABAC6F-D02F-4710-BC2B-9598D1747958}"/>
              </a:ext>
            </a:extLst>
          </p:cNvPr>
          <p:cNvSpPr/>
          <p:nvPr/>
        </p:nvSpPr>
        <p:spPr>
          <a:xfrm>
            <a:off x="228599" y="1990635"/>
            <a:ext cx="5558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ຫ້າມວາງໃສ່ໜ້າສຳຜັດຄັດຊ໌,</a:t>
            </a:r>
          </a:p>
          <a:p>
            <a:r>
              <a:rPr lang="en-US" b="1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ໃຫ້ວາງໃສ່ວົງນອກຂອງຟລາຍວີລຕົວທີສອງ.</a:t>
            </a: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F2A511-54B2-4144-9FD6-C1581063BE97}"/>
              </a:ext>
            </a:extLst>
          </p:cNvPr>
          <p:cNvSpPr/>
          <p:nvPr/>
        </p:nvSpPr>
        <p:spPr>
          <a:xfrm>
            <a:off x="30997" y="3800507"/>
            <a:ext cx="94126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3. ວາງນ້ຳໜັກ 10 kg ໃສ່ໜ້າສຳຜັດຄັດຊ໌ຂອງມວນຕົວທີສອງ ຫຼື ໃຊ້ນິ້ວໂປ້ກົດ. ວັດໄລຍະຫ່າງລະຫວ່າງຟລາຍວີລຕົວທີສອງ ກັບ ວົງນອກ ທີ່ຕຳແໜ່ງນັ້ນ.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37958-CBC8-41B9-9102-43BAC96DED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56"/>
          <a:stretch/>
        </p:blipFill>
        <p:spPr>
          <a:xfrm>
            <a:off x="6248400" y="4371283"/>
            <a:ext cx="2658041" cy="24595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7DF6C2-05AC-4D3A-8355-B208A0E35760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426385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5942E0-8C14-47AA-99DD-1E925341718B}"/>
              </a:ext>
            </a:extLst>
          </p:cNvPr>
          <p:cNvSpPr/>
          <p:nvPr/>
        </p:nvSpPr>
        <p:spPr>
          <a:xfrm>
            <a:off x="0" y="8382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4. ຈາກນັ້ນ ວັດຄ່ານີ້ອີກ ຢູ່ທີ່ 120 ອົງສາ ຈາກຈຸດວັດທີ 1.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ແລ້ວວັດອີກເທື່ອໜຶ່ງ ຢູ່ທີ່ 120 ອົງສາ ຈາກຈຸດວັດທີ 2.</a:t>
            </a:r>
            <a:r>
              <a:rPr lang="en-US" baseline="30000" dirty="0">
                <a:latin typeface="Arial Rounded MT Bold" panose="020F0704030504030204" pitchFamily="34" charset="0"/>
              </a:rPr>
              <a:t/>
            </a:r>
            <a:r>
              <a:rPr lang="en-US" dirty="0">
                <a:latin typeface="Arial Rounded MT Bold" panose="020F0704030504030204" pitchFamily="34" charset="0"/>
              </a:rPr>
              <a:t/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(ວັດ 3 ຈຸດ ຫ່າງເທົ່າກັນ ເຮັດມຸມ 120 ອົງສາ ຢູ່ຈຸດສູນກາງ)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A7985-64E6-40F4-81DA-C4B43D5673A3}"/>
              </a:ext>
            </a:extLst>
          </p:cNvPr>
          <p:cNvSpPr/>
          <p:nvPr/>
        </p:nvSpPr>
        <p:spPr>
          <a:xfrm>
            <a:off x="0" y="1933101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5. ຖ້າຄ່າສະເລ່ຍຂອງ 3 ຈຸດ ຫຼາຍກວ່າ 3 mm ໃຫ້ປ່ຽນ DMF ໃໝ່.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CA92F-AC60-453A-AD76-5E2E30EF67A6}"/>
              </a:ext>
            </a:extLst>
          </p:cNvPr>
          <p:cNvSpPr/>
          <p:nvPr/>
        </p:nvSpPr>
        <p:spPr>
          <a:xfrm>
            <a:off x="54890" y="2743200"/>
            <a:ext cx="90342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ວິທີອື່ນ ໃນການວັດໄລຍະຫຼິ້ນຕາມແກນ: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1. ສາມາດໃຊ້ໄດອັລເກດແບບປຸ່ມກົດ (Plunger type) ແທນເວີເນຍ ໄດ້ ຕາມຮູບ.</a:t>
            </a:r>
          </a:p>
          <a:p>
            <a:r>
              <a:rPr lang="en-US" dirty="0">
                <a:latin typeface="Arial Rounded MT Bold" panose="020F0704030504030204" pitchFamily="34" charset="0"/>
                <a:cs typeface="Leelawadee UI"/>
              </a:rPr>
              <a:t>2. ໃຫ້ເຮັດຕາມຂັ້ນຕອນດຽວກັນ ເພື່ອວັດໄລຍະຫ່າງລະຫວ່າງຟລາຍວີລຕົວທີສອງ ກັບ ວົງນອກ.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B8006-48D7-4A35-A680-6184E109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753759"/>
            <a:ext cx="3733800" cy="20878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0D8F01-F47A-46B3-80C6-3B65DD16E493}"/>
              </a:ext>
            </a:extLst>
          </p:cNvPr>
          <p:cNvSpPr/>
          <p:nvPr/>
        </p:nvSpPr>
        <p:spPr>
          <a:xfrm>
            <a:off x="5787247" y="-49429"/>
            <a:ext cx="3356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ການກວດແກ້ບັນຫາ DMF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11AFE-092F-4F1D-9AB6-C11E5268E29D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277364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D99696-1C72-42BF-86E5-74718A1F8F18}"/>
              </a:ext>
            </a:extLst>
          </p:cNvPr>
          <p:cNvSpPr/>
          <p:nvPr/>
        </p:nvSpPr>
        <p:spPr>
          <a:xfrm>
            <a:off x="-76200" y="685800"/>
            <a:ext cx="9296400" cy="5544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02060"/>
                </a:solidFill>
                <a:latin typeface="Arial Rounded MT Bold" panose="020F0704030504030204" pitchFamily="34" charset="0"/>
                <a:cs typeface="Leelawadee UI"/>
              </a:rPr>
              <a:t>ຈຸດກວດ ໃນເວລາວັດໄລຍະຫຼິ້ນຕາມແກນ: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1. ຫ້າມກວດໄລຍະຫຼິ້ນຕາມແກນ ຕອນທີ່ຍັງຕິດຢູ່ກັບເຄື່ອງຈັກ ແລະ ຕັ້ງໄວ້ແນວຕັ້ງ.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2. ຫ້າມກວດໂດຍການດຶງມວນຕົວທີສອງ. ໃຫ້ກວດໂດຍການກົດລົງເທົ່ານັ້ນ ຕາມຮູບຂ້າງເທິງ.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3. ໃຫ້ແນ່ໃຈວ່າຟລາຍວີລຕົວທີໜຶ່ງຖືກຍຶດແໜ້ນ ບໍ່ໃຫ້ອຽງ/ຍົກຂຶ້ນ ໃນເວລາວັດ.</a:t>
            </a:r>
            <a:r>
              <a:rPr lang="en-US" dirty="0" err="1">
                <a:latin typeface="Arial Rounded MT Bold" panose="020F0704030504030204" pitchFamily="34" charset="0"/>
              </a:rPr>
              <a:t/>
            </a:r>
            <a:r>
              <a:rPr lang="en-US" dirty="0">
                <a:latin typeface="Arial Rounded MT Bold" panose="020F0704030504030204" pitchFamily="34" charset="0"/>
              </a:rPr>
              <a:t/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4. ໄລຍະຫຼິ້ນຕາມແກນ ບໍ່ກ່ຽວຂ້ອງກັບບັນຫາສັ່ນ ຫຼື ກະຕຸກ (Judder). ການວັດນີ້ ພຽງເພື່ອຢືນຢັນວ່າຊິ້ນສ່ວນພາຍໃນ DMF ຍັງດີຢູ່ ຫຼື ບໍ່. ເມື່ອຕິດຕັ້ງ DMF ພາຍໃຕ້ແຮງກົດຂອງ CSC ແລ້ວ ໄລຍະຫຼິ້ນຕາມແກນຈະຖືກຄວບຄຸມ ແລະ ເຮັດວຽກໄດ້ປົກກະຕິ.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Arial Rounded MT Bold" panose="020F0704030504030204" pitchFamily="34" charset="0"/>
                <a:cs typeface="Leelawadee UI"/>
              </a:rPr>
              <a:t>5. ໄລຍະຫຼິ້ນຕາມແກນ ຂອງ MARAZZO ຈະສູງກວ່າລົດລຸ້ນອື່ນເລັກນ້ອຍ ເພາະການອອກແບບແຕກຕ່າງກັນ.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F29468-7364-454D-BB1C-4F990C6823BE}"/>
              </a:ext>
            </a:extLst>
          </p:cNvPr>
          <p:cNvSpPr/>
          <p:nvPr/>
        </p:nvSpPr>
        <p:spPr>
          <a:xfrm>
            <a:off x="5787247" y="-49429"/>
            <a:ext cx="33567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ການກວດແກ້ບັນຫາ DMF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1AE0C-C491-4E62-AD16-ED19492987B9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319412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4E63E-CF87-488F-87B4-ECF39CBF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1602416"/>
            <a:ext cx="2905125" cy="1941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2CDDF0-9C3E-4509-B0A4-E6A476C6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52" y="4658550"/>
            <a:ext cx="3160105" cy="21011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D9F6A4-4999-41FB-826A-05860D40A4BB}"/>
              </a:ext>
            </a:extLst>
          </p:cNvPr>
          <p:cNvSpPr/>
          <p:nvPr/>
        </p:nvSpPr>
        <p:spPr>
          <a:xfrm>
            <a:off x="152400" y="4110491"/>
            <a:ext cx="845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ມີຈາລະບີສະສົມຫຼາຍ ຢູ່ເທິງ ແລະ ອ້ອມຂ້າງ ເຟືອງວົງໄດສະຕາດ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34D06-E980-4619-BAFA-E70334B84803}"/>
              </a:ext>
            </a:extLst>
          </p:cNvPr>
          <p:cNvSpPr/>
          <p:nvPr/>
        </p:nvSpPr>
        <p:spPr>
          <a:xfrm>
            <a:off x="142460" y="866721"/>
            <a:ext cx="80109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ມີຈາລະບີເລັກນ້ອຍ ຢູ່ຝັ່ງຟລາຍວີລຕົວທີສອງຂອງ DMF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B76B1-B8A0-4589-B06B-2CE3F7D0AB5F}"/>
              </a:ext>
            </a:extLst>
          </p:cNvPr>
          <p:cNvSpPr/>
          <p:nvPr/>
        </p:nvSpPr>
        <p:spPr>
          <a:xfrm>
            <a:off x="3906077" y="1685913"/>
            <a:ext cx="52246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ຈາລະບີຊຶມອອກເລັກນ້ອຍ ລະຫວ່າງມວນຕົວທີໜຶ່ງ ແລະ ຕົວທີສອງ ແມ່ນຍອມຮັບໄດ້.</a:t>
            </a:r>
          </a:p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ຈາລະບີນີ້ຖືກແຮງເຫວີ່ຍງສາດໃສ່ເສື້ອເກຍ ແລະ ສະສົມຢູ່ບ່ອນນັ້ນ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4552E6-866D-4F2C-A5EF-9F84CB9FBD0A}"/>
              </a:ext>
            </a:extLst>
          </p:cNvPr>
          <p:cNvSpPr/>
          <p:nvPr/>
        </p:nvSpPr>
        <p:spPr>
          <a:xfrm>
            <a:off x="4414630" y="5046011"/>
            <a:ext cx="457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ຈາລະບີຊຶມອອກຈາກ DMF.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C757D6-EC95-49FC-BA7F-1ED42F9CFDC0}"/>
              </a:ext>
            </a:extLst>
          </p:cNvPr>
          <p:cNvSpPr/>
          <p:nvPr/>
        </p:nvSpPr>
        <p:spPr>
          <a:xfrm>
            <a:off x="6050846" y="0"/>
            <a:ext cx="3093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ການເສຍຫາຍຂອງ DMF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BF9C3A-EDF0-4FC8-8AFA-7952C45EF751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2696150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0EA8F0-B7DD-4233-9909-745799454700}"/>
              </a:ext>
            </a:extLst>
          </p:cNvPr>
          <p:cNvSpPr/>
          <p:nvPr/>
        </p:nvSpPr>
        <p:spPr>
          <a:xfrm>
            <a:off x="6050846" y="0"/>
            <a:ext cx="3093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ການເສຍຫາຍຂອງ DMF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D6793E-9261-4C73-8E5E-C28E80C2B1EF}"/>
              </a:ext>
            </a:extLst>
          </p:cNvPr>
          <p:cNvSpPr/>
          <p:nvPr/>
        </p:nvSpPr>
        <p:spPr>
          <a:xfrm>
            <a:off x="180974" y="770138"/>
            <a:ext cx="58698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ຟລາຍວີລຕົວທີສອງ ຮ້ອນເກີນ.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49BACA-E477-4BA0-9C33-185D102F9638}"/>
              </a:ext>
            </a:extLst>
          </p:cNvPr>
          <p:cNvSpPr/>
          <p:nvPr/>
        </p:nvSpPr>
        <p:spPr>
          <a:xfrm>
            <a:off x="4800600" y="1758599"/>
            <a:ext cx="487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ເກີດຈາກການໃຊ້ຄັດຊ໌ບໍ່ຖືກວິທີ ເຊັ່ນ: ຄັດຊ໌ລື່ນ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A11A-162F-4EE7-8E33-16565FA17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139470"/>
            <a:ext cx="3571875" cy="2409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F7A4BF-C7D9-4C28-98C2-EFBDCA27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258467"/>
            <a:ext cx="3686175" cy="2476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EDE2DF-43A0-46FD-B9E5-A134AF672189}"/>
              </a:ext>
            </a:extLst>
          </p:cNvPr>
          <p:cNvSpPr/>
          <p:nvPr/>
        </p:nvSpPr>
        <p:spPr>
          <a:xfrm>
            <a:off x="180975" y="3648858"/>
            <a:ext cx="58698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ໜ້າສຳຜັດຄັດຊ໌ ຮ້ອນເກີນພິກັດ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B05A5F-05DB-4A84-B8EC-C13E966E9749}"/>
              </a:ext>
            </a:extLst>
          </p:cNvPr>
          <p:cNvSpPr/>
          <p:nvPr/>
        </p:nvSpPr>
        <p:spPr>
          <a:xfrm>
            <a:off x="4800600" y="4615787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ຮ້ອນເກີນພິກັດ ເປັນຜົນມາຈາກຄັດຊ໌ຮ້ອນເກີນ.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95051-C703-4F7C-903F-1E1344B00EC9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2808112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D257FD-9063-4953-9449-D0AA72B8D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77379"/>
            <a:ext cx="3045911" cy="20553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3A4FCC-EF97-499E-BE41-867BC8CC486E}"/>
              </a:ext>
            </a:extLst>
          </p:cNvPr>
          <p:cNvSpPr/>
          <p:nvPr/>
        </p:nvSpPr>
        <p:spPr>
          <a:xfrm>
            <a:off x="762000" y="494795"/>
            <a:ext cx="3198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ມີຮອຍຮ່ອງ ຢູ່ໜ້າສຳຜັດຄັດຊ໌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A07853-73FE-4941-BE9F-CAB7C86AF6C3}"/>
              </a:ext>
            </a:extLst>
          </p:cNvPr>
          <p:cNvSpPr/>
          <p:nvPr/>
        </p:nvSpPr>
        <p:spPr>
          <a:xfrm>
            <a:off x="3960311" y="1052421"/>
            <a:ext cx="33548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ຂັບລົດ ທັງທີ່ແຜ່ນຄັດຊ໌ສຶກໝົດແລ້ວ.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86C6D5-3047-4A42-AFD8-B00729D13FAD}"/>
              </a:ext>
            </a:extLst>
          </p:cNvPr>
          <p:cNvSpPr/>
          <p:nvPr/>
        </p:nvSpPr>
        <p:spPr>
          <a:xfrm>
            <a:off x="4953000" y="1990918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ເຟືອງວົງໄດສະຕາດ ສຶກ/ເສຍຫາຍ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AD0936-1747-4248-A25E-8E011F59D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96" y="2339771"/>
            <a:ext cx="3019407" cy="21784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F5F2C5-7728-43CC-BE3F-4333D0D2FC4C}"/>
              </a:ext>
            </a:extLst>
          </p:cNvPr>
          <p:cNvSpPr/>
          <p:nvPr/>
        </p:nvSpPr>
        <p:spPr>
          <a:xfrm>
            <a:off x="6050846" y="0"/>
            <a:ext cx="3093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ການເສຍຫາຍຂອງ DMF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42BDE0-85AC-46AF-9C91-902BB51D9E6B}"/>
              </a:ext>
            </a:extLst>
          </p:cNvPr>
          <p:cNvSpPr/>
          <p:nvPr/>
        </p:nvSpPr>
        <p:spPr>
          <a:xfrm>
            <a:off x="762000" y="359733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ມີຮ່ອງຮອຍຮ້ອນເກີນ ຢູ່ດ້ານໃນ</a:t>
            </a:r>
          </a:p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ຂອງຟລາຍວີລຕົວທີສອງ.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2BA078-F40B-4AAE-AF00-AA36A13EDDA7}"/>
              </a:ext>
            </a:extLst>
          </p:cNvPr>
          <p:cNvSpPr/>
          <p:nvPr/>
        </p:nvSpPr>
        <p:spPr>
          <a:xfrm>
            <a:off x="4397020" y="5575261"/>
            <a:ext cx="45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ລູກປືນກັນຮຸນ ລະຫວ່າງ</a:t>
            </a:r>
          </a:p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ຟລາຍວີລຕົວທີໜຶ່ງ ແລະ ຕົວທີສອງ ສຶກ ຍ້ອນແຮງເຄັ່ງທາງກົນຈັກ.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CC993D-644E-4A72-AD8C-76EC4BE49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38448"/>
            <a:ext cx="3543300" cy="23907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6D1C60D-701E-4C76-A998-E1498222DB8A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3587750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A0589-1C9D-456C-9713-1360BCFBA0A2}"/>
              </a:ext>
            </a:extLst>
          </p:cNvPr>
          <p:cNvSpPr/>
          <p:nvPr/>
        </p:nvSpPr>
        <p:spPr>
          <a:xfrm>
            <a:off x="152400" y="741017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DMF ຕິດຄ້າງ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57281-4EAD-4EE8-BB84-0414D0158A2B}"/>
              </a:ext>
            </a:extLst>
          </p:cNvPr>
          <p:cNvSpPr/>
          <p:nvPr/>
        </p:nvSpPr>
        <p:spPr>
          <a:xfrm>
            <a:off x="4876800" y="1712267"/>
            <a:ext cx="411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ໃຊ້ສະກູຍາວເກີນໄປ ຍຶດຊຸດຝາຄັດຊ໌ ອາດເຮັດໃຫ້ຟລາຍວີລຕົວທີໜຶ່ງ ແລະ ຕົວທີສອງ ຕິດຄ້າງ.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34694-75CB-4D80-BB23-F61DE655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48" y="1252846"/>
            <a:ext cx="3581400" cy="2381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35E32F-6BD1-443E-AB8E-501F41AC86CD}"/>
              </a:ext>
            </a:extLst>
          </p:cNvPr>
          <p:cNvSpPr/>
          <p:nvPr/>
        </p:nvSpPr>
        <p:spPr>
          <a:xfrm>
            <a:off x="152400" y="3826288"/>
            <a:ext cx="3615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  <a:cs typeface="Leelawadee UI"/>
              </a:rPr>
              <a:t>ຟລາຍວີລຕົວທີໜຶ່ງ ສຶກທະລຸ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9CC66-7FC9-4B5C-A1EF-DA67A351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48" y="4387812"/>
            <a:ext cx="3581400" cy="2343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C54079-84FE-473E-8B92-E277DA0ABDA8}"/>
              </a:ext>
            </a:extLst>
          </p:cNvPr>
          <p:cNvSpPr/>
          <p:nvPr/>
        </p:nvSpPr>
        <p:spPr>
          <a:xfrm>
            <a:off x="4876801" y="3886200"/>
            <a:ext cx="4267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DMF ທັງໝົດ ຖືກແຮງເຄັ່ງທາງກົນຈັກຫຼາຍເກີນ.</a:t>
            </a:r>
          </a:p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ອາດເກີດຈາກເຄື່ອງຈັກເດີນບໍ່ລຽບ,</a:t>
            </a:r>
          </a:p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ເຊັ່ນ: ຫົວສີດ</a:t>
            </a:r>
          </a:p>
          <a:p>
            <a:r>
              <a:rPr lang="en-US" i="1" dirty="0">
                <a:solidFill>
                  <a:srgbClr val="0070C0"/>
                </a:solidFill>
                <a:latin typeface="Arial Rounded MT Bold" panose="020F0704030504030204" pitchFamily="34" charset="0"/>
                <a:cs typeface="Leelawadee UI"/>
              </a:rPr>
              <a:t>ເສຍ.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A75C6-6BF0-445F-BDE1-1EBE7E114B11}"/>
              </a:ext>
            </a:extLst>
          </p:cNvPr>
          <p:cNvSpPr/>
          <p:nvPr/>
        </p:nvSpPr>
        <p:spPr>
          <a:xfrm>
            <a:off x="6050846" y="0"/>
            <a:ext cx="3093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 Rounded MT Bold" panose="020F0704030504030204" pitchFamily="34" charset="0"/>
                <a:cs typeface="Leelawadee UI"/>
              </a:rPr>
              <a:t>ການເສຍຫາຍຂອງ DMF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A4333-DDC2-4D67-8211-5565FA5C962F}"/>
              </a:ext>
            </a:extLst>
          </p:cNvPr>
          <p:cNvSpPr/>
          <p:nvPr/>
        </p:nvSpPr>
        <p:spPr>
          <a:xfrm>
            <a:off x="1752600" y="0"/>
            <a:ext cx="1985690" cy="376518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en-US" sz="2000" u="sng" dirty="0">
                <a:solidFill>
                  <a:srgbClr val="0070C0"/>
                </a:solidFill>
                <a:latin typeface="Arial Rounded MT Bold" panose="020F0704030504030204" pitchFamily="34" charset="0"/>
                <a:ea typeface="+mj-ea"/>
                <a:cs typeface="Arial" pitchFamily="34" charset="0"/>
              </a:rPr>
              <a:t>SK2-DL-10</a:t>
            </a:r>
          </a:p>
        </p:txBody>
      </p:sp>
    </p:spTree>
    <p:extLst>
      <p:ext uri="{BB962C8B-B14F-4D97-AF65-F5344CB8AC3E}">
        <p14:creationId xmlns:p14="http://schemas.microsoft.com/office/powerpoint/2010/main" val="4029983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F5F390-E781-43DB-89BA-041C7180A4FD}"/>
              </a:ext>
            </a:extLst>
          </p:cNvPr>
          <p:cNvSpPr/>
          <p:nvPr/>
        </p:nvSpPr>
        <p:spPr>
          <a:xfrm>
            <a:off x="-94791" y="2967335"/>
            <a:ext cx="933358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cs typeface="Leelawadee UI"/>
              </a:rPr>
              <a:t>ຂອບໃຈ</a:t>
            </a:r>
            <a:endParaRPr lang="en-US" sz="115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5131483"/>
      </p:ext>
    </p:extLst>
  </p:cSld>
  <p:clrMapOvr>
    <a:masterClrMapping/>
  </p:clrMapOvr>
</p:sld>
</file>

<file path=ppt/theme/theme1.xml><?xml version="1.0" encoding="utf-8"?>
<a:theme xmlns:a="http://schemas.openxmlformats.org/drawingml/2006/main" name="Mahindra Group Template_Arial">
  <a:themeElements>
    <a:clrScheme name="Mahindra Color Scheme">
      <a:dk1>
        <a:sysClr val="windowText" lastClr="000000"/>
      </a:dk1>
      <a:lt1>
        <a:sysClr val="window" lastClr="FFFFFF"/>
      </a:lt1>
      <a:dk2>
        <a:srgbClr val="6D6E71"/>
      </a:dk2>
      <a:lt2>
        <a:srgbClr val="E31837"/>
      </a:lt2>
      <a:accent1>
        <a:srgbClr val="E31837"/>
      </a:accent1>
      <a:accent2>
        <a:srgbClr val="6D6E71"/>
      </a:accent2>
      <a:accent3>
        <a:srgbClr val="F3901D"/>
      </a:accent3>
      <a:accent4>
        <a:srgbClr val="FDBC5F"/>
      </a:accent4>
      <a:accent5>
        <a:srgbClr val="E31837"/>
      </a:accent5>
      <a:accent6>
        <a:srgbClr val="7C3520"/>
      </a:accent6>
      <a:hlink>
        <a:srgbClr val="6D6E71"/>
      </a:hlink>
      <a:folHlink>
        <a:srgbClr val="E3183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  <a:ln w="9525">
          <a:noFill/>
          <a:miter lim="800000"/>
          <a:headEnd/>
          <a:tailEnd/>
        </a:ln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fontAlgn="base">
          <a:buClr>
            <a:schemeClr val="tx2"/>
          </a:buClr>
          <a:defRPr sz="1200" dirty="0" smtClean="0">
            <a:latin typeface="+mj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Top 10 Failure</Template>
  <TotalTime>6721</TotalTime>
  <Words>1336</Words>
  <Application>Microsoft Office PowerPoint</Application>
  <PresentationFormat>On-screen Show (4:3)</PresentationFormat>
  <Paragraphs>146</Paragraphs>
  <Slides>17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Rounded MT Bold</vt:lpstr>
      <vt:lpstr>Courier New</vt:lpstr>
      <vt:lpstr>Impact</vt:lpstr>
      <vt:lpstr>Wingdings</vt:lpstr>
      <vt:lpstr>Mahindra Group Template_Arial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DUAL MASS FLYWHEEL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CLUTCH XUV500</dc:subject>
  <dc:creator>SHINDE ABHINAV</dc:creator>
  <cp:lastModifiedBy>SHINDE ABHINAV</cp:lastModifiedBy>
  <cp:revision>355</cp:revision>
  <dcterms:created xsi:type="dcterms:W3CDTF">2019-02-08T11:21:51Z</dcterms:created>
  <dcterms:modified xsi:type="dcterms:W3CDTF">2021-04-28T09:51:59Z</dcterms:modified>
</cp:coreProperties>
</file>